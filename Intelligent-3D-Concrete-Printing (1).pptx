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Tomorrow Semi Bold"/>
      <p:regular r:id="rId16"/>
    </p:embeddedFont>
    <p:embeddedFont>
      <p:font typeface="Tomorrow Semi Bold"/>
      <p:regular r:id="rId17"/>
    </p:embeddedFont>
    <p:embeddedFont>
      <p:font typeface="Tomorrow Semi Bold"/>
      <p:regular r:id="rId18"/>
    </p:embeddedFont>
    <p:embeddedFont>
      <p:font typeface="Tomorrow Semi Bold"/>
      <p:regular r:id="rId19"/>
    </p:embeddedFont>
    <p:embeddedFont>
      <p:font typeface="Tomorrow"/>
      <p:regular r:id="rId20"/>
    </p:embeddedFont>
    <p:embeddedFont>
      <p:font typeface="Tomorrow"/>
      <p:regular r:id="rId21"/>
    </p:embeddedFont>
    <p:embeddedFont>
      <p:font typeface="Tomorrow"/>
      <p:regular r:id="rId22"/>
    </p:embeddedFont>
    <p:embeddedFont>
      <p:font typeface="Tomorrow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2565" y="723900"/>
            <a:ext cx="7651671" cy="399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50"/>
              </a:lnSpc>
              <a:buNone/>
            </a:pPr>
            <a:r>
              <a:rPr lang="en-US" sz="83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Intelligent 3D Concrete Printing</a:t>
            </a:r>
            <a:endParaRPr lang="en-US" sz="8350" dirty="0"/>
          </a:p>
        </p:txBody>
      </p:sp>
      <p:sp>
        <p:nvSpPr>
          <p:cNvPr id="4" name="Text 1"/>
          <p:cNvSpPr/>
          <p:nvPr/>
        </p:nvSpPr>
        <p:spPr>
          <a:xfrm>
            <a:off x="6232565" y="5041344"/>
            <a:ext cx="7651671" cy="1598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Layer Deformation Monitoring and Shrinkage Prediction Using Machine Learning</a:t>
            </a:r>
            <a:endParaRPr lang="en-US" sz="3350" dirty="0"/>
          </a:p>
        </p:txBody>
      </p:sp>
      <p:sp>
        <p:nvSpPr>
          <p:cNvPr id="5" name="Text 2"/>
          <p:cNvSpPr/>
          <p:nvPr/>
        </p:nvSpPr>
        <p:spPr>
          <a:xfrm>
            <a:off x="6232565" y="6959917"/>
            <a:ext cx="7651671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research initiative by Jeetu Kumar, Sagar Hiremath, and Dr. Sowmya Kamath S from the Department of Information Technology, National Institute of Technology Karnataka, Surathkal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1954"/>
            <a:ext cx="124598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The Challenge: Transforming Construction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77709"/>
            <a:ext cx="34429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Traditional Construction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58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Time-consuming and labour-intensive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Heavy reliance on formwork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Limited architectural freedom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854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High material waste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577709"/>
            <a:ext cx="43126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3D Concrete Printing Potential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4158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50–60% cost reduction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Eliminates formwork requirements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Complex geometries enabled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4854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Minimised material waste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329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970" y="2680216"/>
            <a:ext cx="2156460" cy="2872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0911" y="487799"/>
            <a:ext cx="6676549" cy="55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What is 3D Concrete Printing?</a:t>
            </a:r>
            <a:endParaRPr lang="en-US" sz="3450" dirty="0"/>
          </a:p>
        </p:txBody>
      </p:sp>
      <p:sp>
        <p:nvSpPr>
          <p:cNvPr id="5" name="Text 1"/>
          <p:cNvSpPr/>
          <p:nvPr/>
        </p:nvSpPr>
        <p:spPr>
          <a:xfrm>
            <a:off x="620911" y="1308259"/>
            <a:ext cx="7902178" cy="851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An additive manufacturing process that fabricates concrete structures layer-by-layer through controlled extrusion of specially formulated cementitious material, eliminating formwork and enabling unprecedented design freedom.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20911" y="2359343"/>
            <a:ext cx="177403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620911" y="2637949"/>
            <a:ext cx="7902178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8" name="Text 4"/>
          <p:cNvSpPr/>
          <p:nvPr/>
        </p:nvSpPr>
        <p:spPr>
          <a:xfrm>
            <a:off x="620911" y="2772370"/>
            <a:ext cx="2217658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Digital Model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20911" y="3155990"/>
            <a:ext cx="7902178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Design specifications converted to machine instructions.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20911" y="3750231"/>
            <a:ext cx="177403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20911" y="4028837"/>
            <a:ext cx="7902178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2" name="Text 8"/>
          <p:cNvSpPr/>
          <p:nvPr/>
        </p:nvSpPr>
        <p:spPr>
          <a:xfrm>
            <a:off x="620911" y="4163258"/>
            <a:ext cx="2217658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Material Extrusion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20911" y="4546878"/>
            <a:ext cx="7902178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Cementitious material deposited layer-by-layer through nozzle.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20911" y="5141119"/>
            <a:ext cx="177403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0911" y="5419725"/>
            <a:ext cx="7902178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6" name="Text 12"/>
          <p:cNvSpPr/>
          <p:nvPr/>
        </p:nvSpPr>
        <p:spPr>
          <a:xfrm>
            <a:off x="620911" y="5554147"/>
            <a:ext cx="2759035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Automated Construction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20911" y="5937766"/>
            <a:ext cx="7902178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Robotic systems build complex structures without formwork.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20911" y="6532007"/>
            <a:ext cx="177403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20911" y="6810613"/>
            <a:ext cx="7902178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20" name="Text 16"/>
          <p:cNvSpPr/>
          <p:nvPr/>
        </p:nvSpPr>
        <p:spPr>
          <a:xfrm>
            <a:off x="620911" y="6945035"/>
            <a:ext cx="2217658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Quality Finishing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620911" y="7328654"/>
            <a:ext cx="7902178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Integrated trowels smooth surfaces for paint-ready finish.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61962"/>
            <a:ext cx="77103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Critical Challenges in 3DCP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10903"/>
            <a:ext cx="4196358" cy="2456617"/>
          </a:xfrm>
          <a:prstGeom prst="roundRect">
            <a:avLst>
              <a:gd name="adj" fmla="val 1385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74351" y="36681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Layer Stability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4158615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Maximum printable layers before lower layers deform under weight of subsequent layers.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410903"/>
            <a:ext cx="4196358" cy="2456617"/>
          </a:xfrm>
          <a:prstGeom prst="roundRect">
            <a:avLst>
              <a:gd name="adj" fmla="val 1385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523" y="36681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Process Control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4256" y="4158615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Precise calibration of nozzle diameter, extrusion pressure, print speed, and layer height required.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410903"/>
            <a:ext cx="4196358" cy="2456617"/>
          </a:xfrm>
          <a:prstGeom prst="roundRect">
            <a:avLst>
              <a:gd name="adj" fmla="val 1385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20695" y="36681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Durability Issues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97427" y="4158615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Shrinkage and crack formation threaten long-term structural integrity and interlayer bonding.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5752"/>
            <a:ext cx="58682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Research 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1815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121223"/>
            <a:ext cx="37974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1.Maximum Layer Stability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81571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   Determine the maximum number of layers printable before lower-layer deformation exceeds acceptable limits.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518779"/>
            <a:ext cx="32806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2.Real-time ML Control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21327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   Develop machine learning system to detect local deformations and dynamically adjust print speed.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916335"/>
            <a:ext cx="47866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3.Shrinkage and Crack Prediction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3790" y="66108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   Predict shrinkage and crack formation using process, material, and environmental data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6052"/>
            <a:ext cx="91879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Data Foundation: Input Features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94992"/>
            <a:ext cx="6407944" cy="1730812"/>
          </a:xfrm>
          <a:prstGeom prst="roundRect">
            <a:avLst>
              <a:gd name="adj" fmla="val 1966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052286"/>
            <a:ext cx="30624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Material Composition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542705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Cement, water, silica fume, fly ash, aggregates, fibres, and admixtures (kg/m³).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794992"/>
            <a:ext cx="6408063" cy="1730812"/>
          </a:xfrm>
          <a:prstGeom prst="roundRect">
            <a:avLst>
              <a:gd name="adj" fmla="val 1966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5842" y="3052286"/>
            <a:ext cx="28813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Process Parameters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85842" y="3542705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Print speed, nozzle area, layer height, interlayer time, extrusion pressure.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752618"/>
            <a:ext cx="6407944" cy="1730812"/>
          </a:xfrm>
          <a:prstGeom prst="roundRect">
            <a:avLst>
              <a:gd name="adj" fmla="val 1966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084" y="5009912"/>
            <a:ext cx="37589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Environmental Conditions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084" y="5500330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Ambient temperature and relative humidity affecting setting time and drying shrinkage.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752618"/>
            <a:ext cx="6408063" cy="1730812"/>
          </a:xfrm>
          <a:prstGeom prst="roundRect">
            <a:avLst>
              <a:gd name="adj" fmla="val 1966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5842" y="5009912"/>
            <a:ext cx="32488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Rheological Properties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5500330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Yield stress, plastic viscosity, buildability index, and deformation rate indicators.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2280"/>
            <a:ext cx="106881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Predictive Outputs: What We Measure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14688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79565" y="3471982"/>
            <a:ext cx="32248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Compressive Strength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96240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Load-bearing capacity (MPa)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214688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523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Flexural Strength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4256" y="396240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Bending resistance (MPa)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214688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20695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Tensile Strength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97427" y="396240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Interlayer bonding quality (MPa)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809411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74351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Layer Deformation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084" y="5557123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Vertical settlement (mm)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5216962" y="4809411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523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Shrinkage Strain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74256" y="5557123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Dimensional instability (%)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9640133" y="4809411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20695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Crack Propagation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7427" y="5557123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Width and rate (mm/s)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6509" y="508040"/>
            <a:ext cx="6575346" cy="577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Machine Learning Approach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6509" y="1454706"/>
            <a:ext cx="13337381" cy="59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Leveraging advanced ML algorithms including SVM, XGBoost, random forests, and neural networks to model complex non-linear relationships between material composition, process parameters, and structural performance.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509" y="2461498"/>
            <a:ext cx="4488894" cy="44888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10212" y="2438400"/>
            <a:ext cx="2309217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Predictive Models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10212" y="2911792"/>
            <a:ext cx="6581180" cy="59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SVM, XGBoost, ensemble methods for deformation and shrinkage prediction.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410212" y="3669268"/>
            <a:ext cx="6581180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10212" y="4149566"/>
            <a:ext cx="2479953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Real-time Monitoring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10212" y="4622959"/>
            <a:ext cx="6581180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Adaptive control adjusting print speed based on detected deformations.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410212" y="5084802"/>
            <a:ext cx="6581180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410212" y="5565100"/>
            <a:ext cx="2760940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Performance Validation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410212" y="6038493"/>
            <a:ext cx="6581180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High correlation coefficients demonstrating model reliability and accuracy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6509" y="7435215"/>
            <a:ext cx="2309217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1794"/>
            <a:ext cx="91963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Project Deliverables and Impact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91226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D1D1B"/>
          </a:solidFill>
          <a:ln/>
        </p:spPr>
      </p:sp>
      <p:sp>
        <p:nvSpPr>
          <p:cNvPr id="4" name="Text 2"/>
          <p:cNvSpPr/>
          <p:nvPr/>
        </p:nvSpPr>
        <p:spPr>
          <a:xfrm>
            <a:off x="1133951" y="2070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Curated Datasets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33951" y="2561153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Comprehensive layer deformation, material properties, and environmental condition records from NITK 3DCP Laboratory.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86107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D1D1B"/>
          </a:solidFill>
          <a:ln/>
        </p:spPr>
      </p:sp>
      <p:sp>
        <p:nvSpPr>
          <p:cNvPr id="7" name="Text 5"/>
          <p:cNvSpPr/>
          <p:nvPr/>
        </p:nvSpPr>
        <p:spPr>
          <a:xfrm>
            <a:off x="1133951" y="3740587"/>
            <a:ext cx="30416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Predictive ML Models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33951" y="4231005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Validated models for layer deformation and shrinkage/crack initiation prediction.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5168027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D1D1B"/>
          </a:solidFill>
          <a:ln/>
        </p:spPr>
      </p:sp>
      <p:sp>
        <p:nvSpPr>
          <p:cNvPr id="10" name="Text 8"/>
          <p:cNvSpPr/>
          <p:nvPr/>
        </p:nvSpPr>
        <p:spPr>
          <a:xfrm>
            <a:off x="1133951" y="5047536"/>
            <a:ext cx="36427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Decision Support System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33951" y="5537954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Analysis and visualizations guiding optimal printing parameters and mix design decisions.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6474976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D1D1B"/>
          </a:solidFill>
          <a:ln/>
        </p:spPr>
      </p:sp>
      <p:sp>
        <p:nvSpPr>
          <p:cNvPr id="13" name="Text 11"/>
          <p:cNvSpPr/>
          <p:nvPr/>
        </p:nvSpPr>
        <p:spPr>
          <a:xfrm>
            <a:off x="1133951" y="6354485"/>
            <a:ext cx="35313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Industry Transformation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33951" y="6844903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Enhanced reliability, structural performance, and efficiency enabling wider 3DCP adoption in modern construction.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2025-10-27T18:20:47Z</dcterms:created>
  <dcterms:modified xsi:type="dcterms:W3CDTF">2025-10-27T18:20:47Z</dcterms:modified>
</cp:coreProperties>
</file>